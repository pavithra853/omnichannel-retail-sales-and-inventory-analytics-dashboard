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59" r:id="rId3"/>
    <p:sldId id="260" r:id="rId4"/>
    <p:sldId id="261" r:id="rId5"/>
    <p:sldId id="262" r:id="rId6"/>
    <p:sldId id="263" r:id="rId7"/>
    <p:sldId id="264" r:id="rId8"/>
    <p:sldId id="26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2453101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226546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2109886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47C044-4E67-4FD1-B297-D30A1277D46F}" type="datetimeFigureOut">
              <a:rPr lang="en-IN" smtClean="0"/>
              <a:t>24-05-2026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836442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47C044-4E67-4FD1-B297-D30A1277D46F}" type="datetimeFigureOut">
              <a:rPr lang="en-IN" smtClean="0"/>
              <a:t>24-05-2026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456201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47C044-4E67-4FD1-B297-D30A1277D46F}" type="datetimeFigureOut">
              <a:rPr lang="en-IN" smtClean="0"/>
              <a:t>24-05-2026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2577447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47C044-4E67-4FD1-B297-D30A1277D46F}" type="datetimeFigureOut">
              <a:rPr lang="en-IN" smtClean="0"/>
              <a:t>24-05-2026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1966068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47C044-4E67-4FD1-B297-D30A1277D46F}" type="datetimeFigureOut">
              <a:rPr lang="en-IN" smtClean="0"/>
              <a:t>24-05-2026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2188992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47C044-4E67-4FD1-B297-D30A1277D46F}" type="datetimeFigureOut">
              <a:rPr lang="en-IN" smtClean="0"/>
              <a:t>24-05-2026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2494863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2656919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77555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2426828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91942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3590989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19621481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47C044-4E67-4FD1-B297-D30A1277D46F}" type="datetimeFigureOut">
              <a:rPr lang="en-IN" smtClean="0"/>
              <a:t>24-05-2026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D8D507-807C-4830-B293-3B828774A041}" type="slidenum">
              <a:rPr lang="en-IN" smtClean="0"/>
              <a:t>‹#›</a:t>
            </a:fld>
            <a:endParaRPr lang="en-IN"/>
          </a:p>
        </p:txBody>
      </p:sp>
    </p:spTree>
    <p:extLst>
      <p:ext uri="{BB962C8B-B14F-4D97-AF65-F5344CB8AC3E}">
        <p14:creationId xmlns:p14="http://schemas.microsoft.com/office/powerpoint/2010/main" val="1863223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647C044-4E67-4FD1-B297-D30A1277D46F}" type="datetimeFigureOut">
              <a:rPr lang="en-IN" smtClean="0"/>
              <a:t>24-05-2026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AD8D507-807C-4830-B293-3B828774A041}" type="slidenum">
              <a:rPr lang="en-IN" smtClean="0"/>
              <a:t>‹#›</a:t>
            </a:fld>
            <a:endParaRPr lang="en-IN"/>
          </a:p>
        </p:txBody>
      </p:sp>
    </p:spTree>
    <p:extLst>
      <p:ext uri="{BB962C8B-B14F-4D97-AF65-F5344CB8AC3E}">
        <p14:creationId xmlns:p14="http://schemas.microsoft.com/office/powerpoint/2010/main" val="2518051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BB89-79D9-4918-7A04-9AB7D9941A35}"/>
              </a:ext>
            </a:extLst>
          </p:cNvPr>
          <p:cNvSpPr>
            <a:spLocks noGrp="1"/>
          </p:cNvSpPr>
          <p:nvPr>
            <p:ph type="ctrTitle"/>
          </p:nvPr>
        </p:nvSpPr>
        <p:spPr>
          <a:xfrm>
            <a:off x="1507067" y="1111045"/>
            <a:ext cx="7766936" cy="3008671"/>
          </a:xfrm>
        </p:spPr>
        <p:txBody>
          <a:bodyPr/>
          <a:lstStyle/>
          <a:p>
            <a:pPr algn="l"/>
            <a:r>
              <a:rPr lang="en-IN" sz="2000" dirty="0">
                <a:solidFill>
                  <a:srgbClr val="7030A0"/>
                </a:solidFill>
                <a:latin typeface="Times New Roman" panose="02020603050405020304" pitchFamily="18" charset="0"/>
                <a:cs typeface="Times New Roman" panose="02020603050405020304" pitchFamily="18" charset="0"/>
              </a:rPr>
              <a:t>OMNICHANNEL RETAIL SALES AND INVENTORY </a:t>
            </a:r>
            <a:br>
              <a:rPr lang="en-IN" sz="2000" dirty="0">
                <a:solidFill>
                  <a:srgbClr val="7030A0"/>
                </a:solidFill>
                <a:latin typeface="Times New Roman" panose="02020603050405020304" pitchFamily="18" charset="0"/>
                <a:cs typeface="Times New Roman" panose="02020603050405020304" pitchFamily="18" charset="0"/>
              </a:rPr>
            </a:br>
            <a:r>
              <a:rPr lang="en-IN" sz="2000" dirty="0">
                <a:solidFill>
                  <a:srgbClr val="7030A0"/>
                </a:solidFill>
                <a:latin typeface="Times New Roman" panose="02020603050405020304" pitchFamily="18" charset="0"/>
                <a:cs typeface="Times New Roman" panose="02020603050405020304" pitchFamily="18" charset="0"/>
              </a:rPr>
              <a:t>ANALYTICS DASHBOARD</a:t>
            </a:r>
            <a:br>
              <a:rPr lang="en-IN" sz="2000" dirty="0">
                <a:solidFill>
                  <a:srgbClr val="7030A0"/>
                </a:solidFill>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Four-Week Engineering Roadmap</a:t>
            </a:r>
            <a:br>
              <a:rPr lang="en-IN" sz="2000" dirty="0">
                <a:solidFill>
                  <a:srgbClr val="7030A0"/>
                </a:solidFill>
                <a:latin typeface="Times New Roman" panose="02020603050405020304" pitchFamily="18" charset="0"/>
                <a:cs typeface="Times New Roman" panose="02020603050405020304" pitchFamily="18" charset="0"/>
              </a:rPr>
            </a:br>
            <a:r>
              <a:rPr lang="en-IN" sz="2000" dirty="0">
                <a:solidFill>
                  <a:srgbClr val="7030A0"/>
                </a:solidFill>
                <a:latin typeface="Times New Roman" panose="02020603050405020304" pitchFamily="18" charset="0"/>
                <a:cs typeface="Times New Roman" panose="02020603050405020304" pitchFamily="18" charset="0"/>
              </a:rPr>
              <a:t>TEAM LEADER:</a:t>
            </a:r>
            <a:r>
              <a:rPr lang="en-IN" sz="2000" dirty="0">
                <a:solidFill>
                  <a:srgbClr val="00B0F0"/>
                </a:solidFill>
                <a:latin typeface="Times New Roman" panose="02020603050405020304" pitchFamily="18" charset="0"/>
                <a:cs typeface="Times New Roman" panose="02020603050405020304" pitchFamily="18" charset="0"/>
              </a:rPr>
              <a:t>PAVITHRA S</a:t>
            </a:r>
            <a:br>
              <a:rPr lang="en-IN" sz="2000" dirty="0">
                <a:solidFill>
                  <a:srgbClr val="00B0F0"/>
                </a:solidFill>
                <a:latin typeface="Times New Roman" panose="02020603050405020304" pitchFamily="18" charset="0"/>
                <a:cs typeface="Times New Roman" panose="02020603050405020304" pitchFamily="18" charset="0"/>
              </a:rPr>
            </a:br>
            <a:r>
              <a:rPr lang="en-IN" sz="2000" dirty="0">
                <a:solidFill>
                  <a:srgbClr val="00B0F0"/>
                </a:solidFill>
                <a:latin typeface="Times New Roman" panose="02020603050405020304" pitchFamily="18" charset="0"/>
                <a:cs typeface="Times New Roman" panose="02020603050405020304" pitchFamily="18" charset="0"/>
              </a:rPr>
              <a:t>TEAM MEMBERS:</a:t>
            </a:r>
            <a:r>
              <a:rPr lang="en-IN" sz="2000" dirty="0">
                <a:solidFill>
                  <a:srgbClr val="7030A0"/>
                </a:solidFill>
                <a:latin typeface="Times New Roman" panose="02020603050405020304" pitchFamily="18" charset="0"/>
                <a:cs typeface="Times New Roman" panose="02020603050405020304" pitchFamily="18" charset="0"/>
              </a:rPr>
              <a:t> RAHIMA BANU </a:t>
            </a:r>
            <a:br>
              <a:rPr lang="en-IN" sz="2000" dirty="0">
                <a:solidFill>
                  <a:srgbClr val="7030A0"/>
                </a:solidFill>
                <a:latin typeface="Times New Roman" panose="02020603050405020304" pitchFamily="18" charset="0"/>
                <a:cs typeface="Times New Roman" panose="02020603050405020304" pitchFamily="18" charset="0"/>
              </a:rPr>
            </a:br>
            <a:r>
              <a:rPr lang="en-IN" sz="2000" dirty="0">
                <a:solidFill>
                  <a:srgbClr val="7030A0"/>
                </a:solidFill>
                <a:latin typeface="Times New Roman" panose="02020603050405020304" pitchFamily="18" charset="0"/>
                <a:cs typeface="Times New Roman" panose="02020603050405020304" pitchFamily="18" charset="0"/>
              </a:rPr>
              <a:t>                                  PAVITHRA S</a:t>
            </a:r>
            <a:br>
              <a:rPr lang="en-IN" sz="2000" dirty="0">
                <a:solidFill>
                  <a:srgbClr val="7030A0"/>
                </a:solidFill>
                <a:latin typeface="Times New Roman" panose="02020603050405020304" pitchFamily="18" charset="0"/>
                <a:cs typeface="Times New Roman" panose="02020603050405020304" pitchFamily="18" charset="0"/>
              </a:rPr>
            </a:br>
            <a:r>
              <a:rPr lang="en-IN" sz="2000" dirty="0">
                <a:solidFill>
                  <a:srgbClr val="7030A0"/>
                </a:solidFill>
                <a:latin typeface="Times New Roman" panose="02020603050405020304" pitchFamily="18" charset="0"/>
                <a:cs typeface="Times New Roman" panose="02020603050405020304" pitchFamily="18" charset="0"/>
              </a:rPr>
              <a:t>                                  POTNURU MEHER PARAMESH</a:t>
            </a:r>
            <a:br>
              <a:rPr lang="en-IN" sz="2000" dirty="0">
                <a:solidFill>
                  <a:srgbClr val="7030A0"/>
                </a:solidFill>
                <a:latin typeface="Times New Roman" panose="02020603050405020304" pitchFamily="18" charset="0"/>
                <a:cs typeface="Times New Roman" panose="02020603050405020304" pitchFamily="18" charset="0"/>
              </a:rPr>
            </a:br>
            <a:r>
              <a:rPr lang="en-IN" sz="2000" dirty="0">
                <a:solidFill>
                  <a:srgbClr val="7030A0"/>
                </a:solidFill>
                <a:latin typeface="Times New Roman" panose="02020603050405020304" pitchFamily="18" charset="0"/>
                <a:cs typeface="Times New Roman" panose="02020603050405020304" pitchFamily="18" charset="0"/>
              </a:rPr>
              <a:t>                                  BHASKAR TRIPATHI</a:t>
            </a:r>
            <a:br>
              <a:rPr lang="en-IN" sz="2000" dirty="0">
                <a:solidFill>
                  <a:srgbClr val="7030A0"/>
                </a:solidFill>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5630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D9B77-764B-067D-41D9-05C9728974DF}"/>
              </a:ext>
            </a:extLst>
          </p:cNvPr>
          <p:cNvSpPr>
            <a:spLocks noGrp="1"/>
          </p:cNvSpPr>
          <p:nvPr>
            <p:ph type="title"/>
          </p:nvPr>
        </p:nvSpPr>
        <p:spPr>
          <a:xfrm>
            <a:off x="363794" y="363795"/>
            <a:ext cx="10990006" cy="1150374"/>
          </a:xfrm>
        </p:spPr>
        <p:txBody>
          <a:bodyPr>
            <a:normAutofit fontScale="90000"/>
          </a:bodyPr>
          <a:lstStyle/>
          <a:p>
            <a:r>
              <a:rPr lang="en-US" dirty="0">
                <a:solidFill>
                  <a:srgbClr val="0070C0"/>
                </a:solidFill>
              </a:rPr>
              <a:t>Week 1: Data Collection, Environment Setup, and Initial Cleaning</a:t>
            </a:r>
            <a:br>
              <a:rPr lang="en-US" dirty="0"/>
            </a:br>
            <a:endParaRPr lang="en-IN" dirty="0"/>
          </a:p>
        </p:txBody>
      </p:sp>
      <p:sp>
        <p:nvSpPr>
          <p:cNvPr id="3" name="Content Placeholder 2">
            <a:extLst>
              <a:ext uri="{FF2B5EF4-FFF2-40B4-BE49-F238E27FC236}">
                <a16:creationId xmlns:a16="http://schemas.microsoft.com/office/drawing/2014/main" id="{6ECD08D9-0C4D-03A9-4B5B-02D9DC9BC973}"/>
              </a:ext>
            </a:extLst>
          </p:cNvPr>
          <p:cNvSpPr>
            <a:spLocks noGrp="1"/>
          </p:cNvSpPr>
          <p:nvPr>
            <p:ph idx="1"/>
          </p:nvPr>
        </p:nvSpPr>
        <p:spPr>
          <a:xfrm>
            <a:off x="452284" y="1460090"/>
            <a:ext cx="11287432" cy="5397910"/>
          </a:xfrm>
        </p:spPr>
        <p:txBody>
          <a:bodyPr>
            <a:normAutofit fontScale="62500" lnSpcReduction="20000"/>
          </a:bodyPr>
          <a:lstStyle/>
          <a:p>
            <a:pPr marL="0" indent="0">
              <a:buNone/>
            </a:pPr>
            <a:endParaRPr lang="en-US" dirty="0"/>
          </a:p>
          <a:p>
            <a:pPr marL="0" indent="0">
              <a:buNone/>
            </a:pPr>
            <a:r>
              <a:rPr lang="en-IN" sz="2200" b="1" dirty="0">
                <a:solidFill>
                  <a:srgbClr val="00B0F0"/>
                </a:solidFill>
                <a:latin typeface="Times New Roman" panose="02020603050405020304" pitchFamily="18" charset="0"/>
                <a:cs typeface="Times New Roman" panose="02020603050405020304" pitchFamily="18" charset="0"/>
              </a:rPr>
              <a:t>Data Collection and Dataset Import</a:t>
            </a:r>
          </a:p>
          <a:p>
            <a:r>
              <a:rPr lang="en-IN" sz="2200" b="1" dirty="0">
                <a:solidFill>
                  <a:srgbClr val="7030A0"/>
                </a:solidFill>
                <a:latin typeface="Times New Roman" panose="02020603050405020304" pitchFamily="18" charset="0"/>
                <a:cs typeface="Times New Roman" panose="02020603050405020304" pitchFamily="18" charset="0"/>
              </a:rPr>
              <a:t>DATA COLLECTION:</a:t>
            </a:r>
            <a:r>
              <a:rPr lang="en-US" sz="2200" b="1" dirty="0">
                <a:latin typeface="Times New Roman" panose="02020603050405020304" pitchFamily="18" charset="0"/>
                <a:cs typeface="Times New Roman" panose="02020603050405020304" pitchFamily="18" charset="0"/>
              </a:rPr>
              <a:t> </a:t>
            </a:r>
          </a:p>
          <a:p>
            <a:pPr marL="0" indent="0">
              <a:buNone/>
            </a:pPr>
            <a:r>
              <a:rPr lang="en-US" sz="2200" dirty="0">
                <a:latin typeface="Times New Roman" panose="02020603050405020304" pitchFamily="18" charset="0"/>
                <a:cs typeface="Times New Roman" panose="02020603050405020304" pitchFamily="18" charset="0"/>
              </a:rPr>
              <a:t>The process of gathering raw information from various sources like databases, APIs, web scraping, or manual entry to address a specific problem. It involves identifying what data is needed and ensuring it is legally and technically accessible for the project.</a:t>
            </a:r>
            <a:endParaRPr lang="en-IN" sz="2200" b="1" dirty="0">
              <a:latin typeface="Times New Roman" panose="02020603050405020304" pitchFamily="18" charset="0"/>
              <a:cs typeface="Times New Roman" panose="02020603050405020304" pitchFamily="18" charset="0"/>
            </a:endParaRPr>
          </a:p>
          <a:p>
            <a:pPr marL="0" indent="0">
              <a:buNone/>
            </a:pPr>
            <a:r>
              <a:rPr lang="en-IN" sz="2200" b="1" dirty="0">
                <a:solidFill>
                  <a:srgbClr val="0070C0"/>
                </a:solidFill>
                <a:latin typeface="Times New Roman" panose="02020603050405020304" pitchFamily="18" charset="0"/>
                <a:cs typeface="Times New Roman" panose="02020603050405020304" pitchFamily="18" charset="0"/>
              </a:rPr>
              <a:t>Dataset Sources</a:t>
            </a:r>
          </a:p>
          <a:p>
            <a:r>
              <a:rPr lang="en-IN" sz="2200" dirty="0">
                <a:latin typeface="Times New Roman" panose="02020603050405020304" pitchFamily="18" charset="0"/>
                <a:cs typeface="Times New Roman" panose="02020603050405020304" pitchFamily="18" charset="0"/>
              </a:rPr>
              <a:t>Online sales records </a:t>
            </a:r>
          </a:p>
          <a:p>
            <a:r>
              <a:rPr lang="en-IN" sz="2200" dirty="0">
                <a:latin typeface="Times New Roman" panose="02020603050405020304" pitchFamily="18" charset="0"/>
                <a:cs typeface="Times New Roman" panose="02020603050405020304" pitchFamily="18" charset="0"/>
              </a:rPr>
              <a:t>Offline retail transactions </a:t>
            </a:r>
          </a:p>
          <a:p>
            <a:r>
              <a:rPr lang="en-IN" sz="2200" dirty="0">
                <a:latin typeface="Times New Roman" panose="02020603050405020304" pitchFamily="18" charset="0"/>
                <a:cs typeface="Times New Roman" panose="02020603050405020304" pitchFamily="18" charset="0"/>
              </a:rPr>
              <a:t>CSV and Excel files </a:t>
            </a:r>
          </a:p>
          <a:p>
            <a:pPr marL="0" indent="0">
              <a:buNone/>
            </a:pPr>
            <a:r>
              <a:rPr lang="en-IN" sz="2200" b="1" dirty="0">
                <a:solidFill>
                  <a:srgbClr val="0070C0"/>
                </a:solidFill>
                <a:latin typeface="Times New Roman" panose="02020603050405020304" pitchFamily="18" charset="0"/>
                <a:cs typeface="Times New Roman" panose="02020603050405020304" pitchFamily="18" charset="0"/>
              </a:rPr>
              <a:t>Imported Dataset Fields</a:t>
            </a:r>
          </a:p>
          <a:p>
            <a:pPr marL="0" indent="0">
              <a:buNone/>
            </a:pPr>
            <a:r>
              <a:rPr lang="en-US" sz="2200" dirty="0" err="1">
                <a:latin typeface="Times New Roman" panose="02020603050405020304" pitchFamily="18" charset="0"/>
                <a:cs typeface="Times New Roman" panose="02020603050405020304" pitchFamily="18" charset="0"/>
              </a:rPr>
              <a:t>Order_ID</a:t>
            </a:r>
            <a:br>
              <a:rPr lang="en-US" sz="2200" dirty="0">
                <a:latin typeface="Times New Roman" panose="02020603050405020304" pitchFamily="18" charset="0"/>
                <a:cs typeface="Times New Roman" panose="02020603050405020304" pitchFamily="18" charset="0"/>
              </a:rPr>
            </a:br>
            <a:r>
              <a:rPr lang="en-US" sz="2200" dirty="0" err="1">
                <a:latin typeface="Times New Roman" panose="02020603050405020304" pitchFamily="18" charset="0"/>
                <a:cs typeface="Times New Roman" panose="02020603050405020304" pitchFamily="18" charset="0"/>
              </a:rPr>
              <a:t>Order_Date</a:t>
            </a:r>
            <a:br>
              <a:rPr lang="en-US" sz="2200" dirty="0">
                <a:latin typeface="Times New Roman" panose="02020603050405020304" pitchFamily="18" charset="0"/>
                <a:cs typeface="Times New Roman" panose="02020603050405020304" pitchFamily="18" charset="0"/>
              </a:rPr>
            </a:br>
            <a:r>
              <a:rPr lang="en-US" sz="2200" dirty="0" err="1">
                <a:latin typeface="Times New Roman" panose="02020603050405020304" pitchFamily="18" charset="0"/>
                <a:cs typeface="Times New Roman" panose="02020603050405020304" pitchFamily="18" charset="0"/>
              </a:rPr>
              <a:t>Product_ID</a:t>
            </a:r>
            <a:br>
              <a:rPr lang="en-US" sz="2200" dirty="0">
                <a:latin typeface="Times New Roman" panose="02020603050405020304" pitchFamily="18" charset="0"/>
                <a:cs typeface="Times New Roman" panose="02020603050405020304" pitchFamily="18" charset="0"/>
              </a:rPr>
            </a:br>
            <a:r>
              <a:rPr lang="en-US" sz="2200" dirty="0" err="1">
                <a:latin typeface="Times New Roman" panose="02020603050405020304" pitchFamily="18" charset="0"/>
                <a:cs typeface="Times New Roman" panose="02020603050405020304" pitchFamily="18" charset="0"/>
              </a:rPr>
              <a:t>Product_Name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Category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Price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Quantity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Channel</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City</a:t>
            </a:r>
            <a:br>
              <a:rPr lang="en-US" sz="2200" dirty="0">
                <a:latin typeface="Times New Roman" panose="02020603050405020304" pitchFamily="18" charset="0"/>
                <a:cs typeface="Times New Roman" panose="02020603050405020304" pitchFamily="18" charset="0"/>
              </a:rPr>
            </a:br>
            <a:r>
              <a:rPr lang="en-US" sz="2200" dirty="0" err="1">
                <a:latin typeface="Times New Roman" panose="02020603050405020304" pitchFamily="18" charset="0"/>
                <a:cs typeface="Times New Roman" panose="02020603050405020304" pitchFamily="18" charset="0"/>
              </a:rPr>
              <a:t>Customer_ID</a:t>
            </a:r>
            <a:br>
              <a:rPr lang="en-US" sz="2200" dirty="0">
                <a:latin typeface="Times New Roman" panose="02020603050405020304" pitchFamily="18" charset="0"/>
                <a:cs typeface="Times New Roman" panose="02020603050405020304" pitchFamily="18" charset="0"/>
              </a:rPr>
            </a:br>
            <a:r>
              <a:rPr lang="en-US" sz="2200" dirty="0" err="1">
                <a:latin typeface="Times New Roman" panose="02020603050405020304" pitchFamily="18" charset="0"/>
                <a:cs typeface="Times New Roman" panose="02020603050405020304" pitchFamily="18" charset="0"/>
              </a:rPr>
              <a:t>Stock_Available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Sales</a:t>
            </a:r>
            <a:br>
              <a:rPr lang="en-US" sz="2200" dirty="0">
                <a:latin typeface="Times New Roman" panose="02020603050405020304" pitchFamily="18" charset="0"/>
                <a:cs typeface="Times New Roman" panose="02020603050405020304" pitchFamily="18" charset="0"/>
              </a:rPr>
            </a:br>
            <a:r>
              <a:rPr lang="en-US" sz="2200" dirty="0" err="1">
                <a:latin typeface="Times New Roman" panose="02020603050405020304" pitchFamily="18" charset="0"/>
                <a:cs typeface="Times New Roman" panose="02020603050405020304" pitchFamily="18" charset="0"/>
              </a:rPr>
              <a:t>Stock_Status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560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3203B6-8DC2-541E-5DFD-3CF2F8EFEC81}"/>
              </a:ext>
            </a:extLst>
          </p:cNvPr>
          <p:cNvSpPr>
            <a:spLocks noGrp="1"/>
          </p:cNvSpPr>
          <p:nvPr>
            <p:ph idx="1"/>
          </p:nvPr>
        </p:nvSpPr>
        <p:spPr>
          <a:xfrm>
            <a:off x="206477" y="383458"/>
            <a:ext cx="9067525" cy="5657905"/>
          </a:xfrm>
        </p:spPr>
        <p:txBody>
          <a:bodyPr>
            <a:normAutofit fontScale="92500" lnSpcReduction="20000"/>
          </a:bodyPr>
          <a:lstStyle/>
          <a:p>
            <a:pPr marL="0" indent="0">
              <a:buNone/>
            </a:pPr>
            <a:endParaRPr lang="en-US" dirty="0"/>
          </a:p>
          <a:p>
            <a:pPr marL="0" indent="0">
              <a:buNone/>
            </a:pPr>
            <a:r>
              <a:rPr lang="en-US" b="1" dirty="0">
                <a:solidFill>
                  <a:srgbClr val="7030A0"/>
                </a:solidFill>
              </a:rPr>
              <a:t>ENVIRONMENT SETUP: </a:t>
            </a:r>
          </a:p>
          <a:p>
            <a:pPr marL="0" indent="0">
              <a:buNone/>
            </a:pPr>
            <a:r>
              <a:rPr lang="en-US" dirty="0"/>
              <a:t>The configuration of hardware and software tools, such as installing Python, SQL, or specialized libraries, to create a stable workspace. This step ensures that all team members are using the same versions and dependencies to prevent technical errors. </a:t>
            </a:r>
          </a:p>
          <a:p>
            <a:pPr marL="0" indent="0">
              <a:buNone/>
            </a:pPr>
            <a:r>
              <a:rPr lang="en-US" dirty="0"/>
              <a:t>Environment Setup involves installing and configuring the necessary software, libraries, and hardware configurations to create a functional workspace for your project.</a:t>
            </a:r>
            <a:endParaRPr lang="en-IN" dirty="0"/>
          </a:p>
          <a:p>
            <a:pPr marL="0" indent="0">
              <a:buNone/>
            </a:pPr>
            <a:r>
              <a:rPr lang="en-IN" b="1" dirty="0">
                <a:solidFill>
                  <a:srgbClr val="00B0F0"/>
                </a:solidFill>
              </a:rPr>
              <a:t>Tools and Technologies Used</a:t>
            </a:r>
          </a:p>
          <a:p>
            <a:r>
              <a:rPr lang="en-IN" dirty="0"/>
              <a:t>Python </a:t>
            </a:r>
          </a:p>
          <a:p>
            <a:r>
              <a:rPr lang="en-IN" dirty="0" err="1"/>
              <a:t>Jupyter</a:t>
            </a:r>
            <a:r>
              <a:rPr lang="en-IN" dirty="0"/>
              <a:t> Notebook </a:t>
            </a:r>
          </a:p>
          <a:p>
            <a:r>
              <a:rPr lang="en-IN" dirty="0"/>
              <a:t>Microsoft Excel </a:t>
            </a:r>
          </a:p>
          <a:p>
            <a:r>
              <a:rPr lang="en-IN" dirty="0"/>
              <a:t>GitHub </a:t>
            </a:r>
          </a:p>
          <a:p>
            <a:r>
              <a:rPr lang="en-IN" dirty="0"/>
              <a:t>Pandas Library </a:t>
            </a:r>
          </a:p>
          <a:p>
            <a:pPr marL="0" indent="0">
              <a:buNone/>
            </a:pPr>
            <a:r>
              <a:rPr lang="en-IN" dirty="0">
                <a:solidFill>
                  <a:srgbClr val="00B0F0"/>
                </a:solidFill>
              </a:rPr>
              <a:t>Activities Performed</a:t>
            </a:r>
          </a:p>
          <a:p>
            <a:r>
              <a:rPr lang="en-IN" dirty="0"/>
              <a:t>Installed Python packages </a:t>
            </a:r>
          </a:p>
          <a:p>
            <a:r>
              <a:rPr lang="en-IN" dirty="0"/>
              <a:t>Configured </a:t>
            </a:r>
            <a:r>
              <a:rPr lang="en-IN" dirty="0" err="1"/>
              <a:t>Jupyter</a:t>
            </a:r>
            <a:r>
              <a:rPr lang="en-IN" dirty="0"/>
              <a:t> Notebook </a:t>
            </a:r>
          </a:p>
          <a:p>
            <a:r>
              <a:rPr lang="en-IN" dirty="0"/>
              <a:t>Created project folders </a:t>
            </a:r>
          </a:p>
          <a:p>
            <a:r>
              <a:rPr lang="en-IN" dirty="0"/>
              <a:t>Connected GitHub repository</a:t>
            </a:r>
          </a:p>
          <a:p>
            <a:pPr marL="0" indent="0">
              <a:buNone/>
            </a:pPr>
            <a:endParaRPr lang="en-IN" dirty="0"/>
          </a:p>
        </p:txBody>
      </p:sp>
    </p:spTree>
    <p:extLst>
      <p:ext uri="{BB962C8B-B14F-4D97-AF65-F5344CB8AC3E}">
        <p14:creationId xmlns:p14="http://schemas.microsoft.com/office/powerpoint/2010/main" val="938467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454CA-EAD5-55AA-E3B4-888D8D3AAE4B}"/>
              </a:ext>
            </a:extLst>
          </p:cNvPr>
          <p:cNvSpPr>
            <a:spLocks noGrp="1"/>
          </p:cNvSpPr>
          <p:nvPr>
            <p:ph idx="1"/>
          </p:nvPr>
        </p:nvSpPr>
        <p:spPr>
          <a:xfrm>
            <a:off x="344129" y="1061885"/>
            <a:ext cx="8929873" cy="4979478"/>
          </a:xfrm>
        </p:spPr>
        <p:txBody>
          <a:bodyPr/>
          <a:lstStyle/>
          <a:p>
            <a:pPr marL="0" indent="0">
              <a:buNone/>
            </a:pPr>
            <a:endParaRPr lang="en-US" dirty="0"/>
          </a:p>
          <a:p>
            <a:pPr marL="0" indent="0">
              <a:buNone/>
            </a:pPr>
            <a:r>
              <a:rPr lang="en-US" b="1" dirty="0">
                <a:solidFill>
                  <a:srgbClr val="7030A0"/>
                </a:solidFill>
              </a:rPr>
              <a:t>INITIAL CLEANING: </a:t>
            </a:r>
          </a:p>
          <a:p>
            <a:pPr marL="0" indent="0">
              <a:buNone/>
            </a:pPr>
            <a:r>
              <a:rPr lang="en-US" dirty="0"/>
              <a:t>The preliminary step of identifying and fixing obvious errors, such as removing duplicates, handling missing values, and correcting data types. This "first pass" ensures the dataset is structured enough for deeper exploratory analysis and transformation.</a:t>
            </a:r>
          </a:p>
          <a:p>
            <a:r>
              <a:rPr lang="en-US" b="1" dirty="0">
                <a:solidFill>
                  <a:srgbClr val="00B0F0"/>
                </a:solidFill>
              </a:rPr>
              <a:t>Objectives:</a:t>
            </a:r>
          </a:p>
          <a:p>
            <a:r>
              <a:rPr lang="en-US" dirty="0"/>
              <a:t>Setup project environment </a:t>
            </a:r>
          </a:p>
          <a:p>
            <a:r>
              <a:rPr lang="en-US" dirty="0"/>
              <a:t>Initialize GitHub repository </a:t>
            </a:r>
          </a:p>
          <a:p>
            <a:r>
              <a:rPr lang="en-US" dirty="0"/>
              <a:t>Import raw retail dataset </a:t>
            </a:r>
          </a:p>
          <a:p>
            <a:r>
              <a:rPr lang="en-US" dirty="0"/>
              <a:t>Perform data cleaning and preprocessing</a:t>
            </a:r>
          </a:p>
          <a:p>
            <a:pPr marL="0" indent="0">
              <a:buNone/>
            </a:pPr>
            <a:endParaRPr lang="en-IN" dirty="0"/>
          </a:p>
        </p:txBody>
      </p:sp>
    </p:spTree>
    <p:extLst>
      <p:ext uri="{BB962C8B-B14F-4D97-AF65-F5344CB8AC3E}">
        <p14:creationId xmlns:p14="http://schemas.microsoft.com/office/powerpoint/2010/main" val="1086467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9DA35A-8BBB-CC00-BDA8-B86846E2D353}"/>
              </a:ext>
            </a:extLst>
          </p:cNvPr>
          <p:cNvSpPr>
            <a:spLocks noGrp="1"/>
          </p:cNvSpPr>
          <p:nvPr>
            <p:ph idx="1"/>
          </p:nvPr>
        </p:nvSpPr>
        <p:spPr>
          <a:xfrm>
            <a:off x="245806" y="688257"/>
            <a:ext cx="9517625" cy="5801031"/>
          </a:xfrm>
        </p:spPr>
        <p:txBody>
          <a:bodyPr/>
          <a:lstStyle/>
          <a:p>
            <a:pPr marL="0" indent="0">
              <a:buNone/>
            </a:pPr>
            <a:endParaRPr lang="en-IN" b="1" dirty="0">
              <a:solidFill>
                <a:srgbClr val="0070C0"/>
              </a:solidFill>
            </a:endParaRPr>
          </a:p>
          <a:p>
            <a:pPr marL="0" indent="0">
              <a:buNone/>
            </a:pPr>
            <a:r>
              <a:rPr lang="en-IN" b="1" dirty="0">
                <a:solidFill>
                  <a:srgbClr val="0070C0"/>
                </a:solidFill>
              </a:rPr>
              <a:t>Data Cleaning and Preprocessing </a:t>
            </a:r>
          </a:p>
          <a:p>
            <a:pPr marL="0" indent="0">
              <a:buNone/>
            </a:pPr>
            <a:r>
              <a:rPr lang="en-IN" b="1" dirty="0">
                <a:solidFill>
                  <a:srgbClr val="0070C0"/>
                </a:solidFill>
              </a:rPr>
              <a:t>Cleaning Activities</a:t>
            </a:r>
          </a:p>
          <a:p>
            <a:r>
              <a:rPr lang="en-IN" dirty="0"/>
              <a:t>Handling NULL values </a:t>
            </a:r>
          </a:p>
          <a:p>
            <a:r>
              <a:rPr lang="en-IN" dirty="0"/>
              <a:t>Removing duplicate records </a:t>
            </a:r>
          </a:p>
          <a:p>
            <a:r>
              <a:rPr lang="en-IN" dirty="0"/>
              <a:t>Standardizing date/time formats </a:t>
            </a:r>
          </a:p>
          <a:p>
            <a:r>
              <a:rPr lang="en-IN" dirty="0"/>
              <a:t>Correcting invalid entries </a:t>
            </a:r>
          </a:p>
          <a:p>
            <a:r>
              <a:rPr lang="en-IN" dirty="0"/>
              <a:t>Validating data types </a:t>
            </a:r>
          </a:p>
          <a:p>
            <a:pPr marL="0" indent="0">
              <a:buNone/>
            </a:pPr>
            <a:r>
              <a:rPr lang="en-IN" b="1" dirty="0">
                <a:solidFill>
                  <a:srgbClr val="0070C0"/>
                </a:solidFill>
              </a:rPr>
              <a:t>Tools Used</a:t>
            </a:r>
          </a:p>
          <a:p>
            <a:r>
              <a:rPr lang="en-IN" dirty="0"/>
              <a:t>Python Pandas </a:t>
            </a:r>
          </a:p>
          <a:p>
            <a:r>
              <a:rPr lang="en-IN" dirty="0"/>
              <a:t>Excel Functions</a:t>
            </a:r>
          </a:p>
          <a:p>
            <a:endParaRPr lang="en-IN" dirty="0"/>
          </a:p>
        </p:txBody>
      </p:sp>
    </p:spTree>
    <p:extLst>
      <p:ext uri="{BB962C8B-B14F-4D97-AF65-F5344CB8AC3E}">
        <p14:creationId xmlns:p14="http://schemas.microsoft.com/office/powerpoint/2010/main" val="1467986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8F70C7-4CFE-45E9-1681-8A603B4E3F22}"/>
              </a:ext>
            </a:extLst>
          </p:cNvPr>
          <p:cNvSpPr>
            <a:spLocks noGrp="1"/>
          </p:cNvSpPr>
          <p:nvPr>
            <p:ph idx="1"/>
          </p:nvPr>
        </p:nvSpPr>
        <p:spPr>
          <a:xfrm>
            <a:off x="293875" y="479273"/>
            <a:ext cx="9646537" cy="5911695"/>
          </a:xfrm>
        </p:spPr>
        <p:txBody>
          <a:bodyPr>
            <a:normAutofit/>
          </a:bodyPr>
          <a:lstStyle/>
          <a:p>
            <a:pPr marL="0" indent="0">
              <a:buNone/>
            </a:pPr>
            <a:r>
              <a:rPr lang="en-IN" b="1" dirty="0">
                <a:solidFill>
                  <a:srgbClr val="0070C0"/>
                </a:solidFill>
              </a:rPr>
              <a:t>GitHub Repository Setup</a:t>
            </a:r>
          </a:p>
          <a:p>
            <a:pPr marL="0" indent="0">
              <a:buNone/>
            </a:pPr>
            <a:r>
              <a:rPr lang="en-US" b="1" dirty="0"/>
              <a:t>GitHub Repository Setup</a:t>
            </a:r>
            <a:r>
              <a:rPr lang="en-US" dirty="0"/>
              <a:t> involves creating a remote storage space to host your project's code, enabling version control and collaboration through the Git system.</a:t>
            </a:r>
            <a:endParaRPr lang="en-IN" b="1" dirty="0"/>
          </a:p>
          <a:p>
            <a:pPr marL="0" indent="0">
              <a:buNone/>
            </a:pPr>
            <a:r>
              <a:rPr lang="en-IN" b="1" dirty="0">
                <a:solidFill>
                  <a:srgbClr val="0070C0"/>
                </a:solidFill>
              </a:rPr>
              <a:t>Tasks Performed</a:t>
            </a:r>
          </a:p>
          <a:p>
            <a:r>
              <a:rPr lang="en-IN" dirty="0"/>
              <a:t>Created GitHub repository </a:t>
            </a:r>
          </a:p>
          <a:p>
            <a:r>
              <a:rPr lang="en-IN" dirty="0"/>
              <a:t>Uploaded </a:t>
            </a:r>
            <a:r>
              <a:rPr lang="en-IN" dirty="0" err="1"/>
              <a:t>Jupyter</a:t>
            </a:r>
            <a:r>
              <a:rPr lang="en-IN" dirty="0"/>
              <a:t> notebooks </a:t>
            </a:r>
          </a:p>
          <a:p>
            <a:r>
              <a:rPr lang="en-IN" dirty="0"/>
              <a:t>Added SQL scripts </a:t>
            </a:r>
          </a:p>
          <a:p>
            <a:r>
              <a:rPr lang="en-IN" dirty="0"/>
              <a:t>Maintained version control </a:t>
            </a:r>
          </a:p>
          <a:p>
            <a:pPr marL="0" indent="0">
              <a:buNone/>
            </a:pPr>
            <a:r>
              <a:rPr lang="en-IN" b="1" dirty="0">
                <a:solidFill>
                  <a:srgbClr val="0070C0"/>
                </a:solidFill>
              </a:rPr>
              <a:t>Benefits</a:t>
            </a:r>
          </a:p>
          <a:p>
            <a:r>
              <a:rPr lang="en-IN" dirty="0"/>
              <a:t>Code tracking </a:t>
            </a:r>
          </a:p>
          <a:p>
            <a:r>
              <a:rPr lang="en-IN" dirty="0"/>
              <a:t>Backup management </a:t>
            </a:r>
          </a:p>
          <a:p>
            <a:r>
              <a:rPr lang="en-IN" dirty="0"/>
              <a:t>Collaboration support </a:t>
            </a:r>
          </a:p>
          <a:p>
            <a:r>
              <a:rPr lang="en-IN" dirty="0"/>
              <a:t>Sprint-wise commit history</a:t>
            </a:r>
          </a:p>
          <a:p>
            <a:endParaRPr lang="en-IN" dirty="0"/>
          </a:p>
        </p:txBody>
      </p:sp>
    </p:spTree>
    <p:extLst>
      <p:ext uri="{BB962C8B-B14F-4D97-AF65-F5344CB8AC3E}">
        <p14:creationId xmlns:p14="http://schemas.microsoft.com/office/powerpoint/2010/main" val="361200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5AB3F9-7BD2-A643-0288-58A1A2BBEDE5}"/>
              </a:ext>
            </a:extLst>
          </p:cNvPr>
          <p:cNvSpPr>
            <a:spLocks noGrp="1"/>
          </p:cNvSpPr>
          <p:nvPr>
            <p:ph idx="1"/>
          </p:nvPr>
        </p:nvSpPr>
        <p:spPr>
          <a:xfrm>
            <a:off x="196645" y="589936"/>
            <a:ext cx="9438968" cy="5329084"/>
          </a:xfrm>
        </p:spPr>
        <p:txBody>
          <a:bodyPr/>
          <a:lstStyle/>
          <a:p>
            <a:pPr marL="0" indent="0">
              <a:buNone/>
            </a:pPr>
            <a:r>
              <a:rPr lang="en-IN" b="1" dirty="0">
                <a:solidFill>
                  <a:srgbClr val="7030A0"/>
                </a:solidFill>
              </a:rPr>
              <a:t>Outcome</a:t>
            </a:r>
          </a:p>
          <a:p>
            <a:pPr marL="0" indent="0">
              <a:buNone/>
            </a:pPr>
            <a:r>
              <a:rPr lang="en-IN" b="1" dirty="0"/>
              <a:t>Week 1 Deliverables</a:t>
            </a:r>
          </a:p>
          <a:p>
            <a:pPr marL="0" indent="0">
              <a:buNone/>
            </a:pPr>
            <a:r>
              <a:rPr lang="en-IN" b="1" dirty="0"/>
              <a:t>Completed Tasks</a:t>
            </a:r>
          </a:p>
          <a:p>
            <a:r>
              <a:rPr lang="en-IN" dirty="0"/>
              <a:t>Cleaned retail dataset </a:t>
            </a:r>
          </a:p>
          <a:p>
            <a:r>
              <a:rPr lang="en-IN" dirty="0"/>
              <a:t>Standardized data format </a:t>
            </a:r>
          </a:p>
          <a:p>
            <a:r>
              <a:rPr lang="en-IN" dirty="0"/>
              <a:t>Removed inconsistencies </a:t>
            </a:r>
          </a:p>
          <a:p>
            <a:r>
              <a:rPr lang="en-IN" dirty="0"/>
              <a:t>Prepared data for SQL analysis </a:t>
            </a:r>
          </a:p>
          <a:p>
            <a:pPr marL="0" indent="0">
              <a:buNone/>
            </a:pPr>
            <a:r>
              <a:rPr lang="en-IN" b="1" dirty="0">
                <a:solidFill>
                  <a:srgbClr val="7030A0"/>
                </a:solidFill>
              </a:rPr>
              <a:t>Result</a:t>
            </a:r>
          </a:p>
          <a:p>
            <a:r>
              <a:rPr lang="en-IN" dirty="0"/>
              <a:t>The dataset became ready for database integration and business analytics.</a:t>
            </a:r>
          </a:p>
          <a:p>
            <a:pPr marL="0" indent="0">
              <a:buNone/>
            </a:pPr>
            <a:endParaRPr lang="en-IN" dirty="0"/>
          </a:p>
        </p:txBody>
      </p:sp>
    </p:spTree>
    <p:extLst>
      <p:ext uri="{BB962C8B-B14F-4D97-AF65-F5344CB8AC3E}">
        <p14:creationId xmlns:p14="http://schemas.microsoft.com/office/powerpoint/2010/main" val="3834119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0,000+ Free Thank You Mail &amp; Thank You Images - Pixabay">
            <a:extLst>
              <a:ext uri="{FF2B5EF4-FFF2-40B4-BE49-F238E27FC236}">
                <a16:creationId xmlns:a16="http://schemas.microsoft.com/office/drawing/2014/main" id="{1D68E884-F99B-410B-536B-98F7E3C03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219" y="412955"/>
            <a:ext cx="7796981" cy="5387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92463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41</TotalTime>
  <Words>429</Words>
  <Application>Microsoft Office PowerPoint</Application>
  <PresentationFormat>Widescreen</PresentationFormat>
  <Paragraphs>67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Times New Roman</vt:lpstr>
      <vt:lpstr>Trebuchet MS</vt:lpstr>
      <vt:lpstr>Wingdings 3</vt:lpstr>
      <vt:lpstr>Facet</vt:lpstr>
      <vt:lpstr>OMNICHANNEL RETAIL SALES AND INVENTORY  ANALYTICS DASHBOARD Four-Week Engineering Roadmap TEAM LEADER:PAVITHRA S TEAM MEMBERS: RAHIMA BANU                                    PAVITHRA S                                   POTNURU MEHER PARAMESH                                   BHASKAR TRIPATHI </vt:lpstr>
      <vt:lpstr>Week 1: Data Collection, Environment Setup, and Initial Cleaning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PAVITHRA SUGUMAR</dc:creator>
  <cp:lastModifiedBy>PAVITHRA SUGUMAR</cp:lastModifiedBy>
  <cp:revision>1</cp:revision>
  <dcterms:created xsi:type="dcterms:W3CDTF">2026-05-24T16:10:04Z</dcterms:created>
  <dcterms:modified xsi:type="dcterms:W3CDTF">2026-05-24T16:51:54Z</dcterms:modified>
</cp:coreProperties>
</file>